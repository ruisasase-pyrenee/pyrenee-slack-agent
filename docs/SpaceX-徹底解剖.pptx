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FFFF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FFFFFF"/>
                </a:solidFill>
                <a:latin typeface="Calibri"/>
              </a:rPr>
              <a:t>セグメント別 売上高 ($B)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 ($B)</c:v>
                </c:pt>
              </c:strCache>
            </c:strRef>
          </c:tx>
          <c:spPr>
            <a:solidFill>
              <a:srgbClr val="5FD3F3"/>
            </a:solidFill>
            <a:effectLst/>
          </c:spPr>
          <c:invertIfNegative val="0"/>
          <c:dLbls>
            <c:numFmt formatCode="$0.00&quot;B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FD3F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B62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Connectivity
(Starlink)</c:v>
                  </c:pt>
                  <c:pt idx="1">
                    <c:v>AI
(クラウド)</c:v>
                  </c:pt>
                  <c:pt idx="2">
                    <c:v>Space
(打ち上げ)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2.56</c:v>
                </c:pt>
                <c:pt idx="2">
                  <c:v>0.96</c:v>
                </c:pt>
              </c:numCache>
            </c:numRef>
          </c:val>
        </c:ser>
        <c:dLbls>
          <c:numFmt formatCode="$0.00&quot;B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5CBD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</c:scaling>
        <c:delete val="0"/>
        <c:axPos val="l"/>
        <c:majorGridlines>
          <c:spPr>
            <a:ln w="12700" cap="flat">
              <a:solidFill>
                <a:srgbClr val="2A345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58FA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61D36"/>
        </a:solidFill>
        <a:ln>
          <a:noFill/>
        </a:ln>
        <a:effectLst/>
      </c:spPr>
    </c:plotArea>
    <c:plotVisOnly val="1"/>
    <c:dispBlanksAs val="span"/>
  </c:chart>
  <c:spPr>
    <a:solidFill>
      <a:srgbClr val="161D36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FFFF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FFFFFF"/>
                </a:solidFill>
                <a:latin typeface="Calibri"/>
              </a:rPr>
              <a:t>打ち上げ1回あたりの費用 ($M)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1回あたり費用 ($M)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B62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668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E476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SpaceX
社内原価</c:v>
                  </c:pt>
                  <c:pt idx="1">
                    <c:v>SpaceX
外販価格</c:v>
                  </c:pt>
                  <c:pt idx="2">
                    <c:v>Ariane 6
(欧州)</c:v>
                  </c:pt>
                  <c:pt idx="3">
                    <c:v>ULA Vulcan
(米)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17.5</c:v>
                </c:pt>
                <c:pt idx="1">
                  <c:v>74</c:v>
                </c:pt>
                <c:pt idx="2">
                  <c:v>100</c:v>
                </c:pt>
                <c:pt idx="3">
                  <c:v>155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5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5CBD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2A345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58FA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61D36"/>
        </a:solidFill>
        <a:ln>
          <a:noFill/>
        </a:ln>
        <a:effectLst/>
      </c:spPr>
    </c:plotArea>
    <c:plotVisOnly val="1"/>
    <c:dispBlanksAs val="span"/>
  </c:chart>
  <c:spPr>
    <a:solidFill>
      <a:srgbClr val="161D36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FFFFFF"/>
                </a:solidFill>
                <a:latin typeface="Calibri"/>
              </a:defRPr>
            </a:pPr>
            <a:r>
              <a:rPr sz="1250" b="0" i="0" u="none" strike="noStrike">
                <a:solidFill>
                  <a:srgbClr val="FFFFFF"/>
                </a:solidFill>
                <a:latin typeface="Calibri"/>
              </a:rPr>
              <a:t>世界のデータセンター電力需要 (GW)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DC電力需要 (GW)</c:v>
                </c:pt>
              </c:strCache>
            </c:strRef>
          </c:tx>
          <c:spPr>
            <a:solidFill>
              <a:srgbClr val="3E476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E476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A668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2025年</c:v>
                  </c:pt>
                  <c:pt idx="1">
                    <c:v>2026年</c:v>
                  </c:pt>
                  <c:pt idx="2">
                    <c:v>2030年予測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82</c:v>
                </c:pt>
                <c:pt idx="1">
                  <c:v>88</c:v>
                </c:pt>
                <c:pt idx="2">
                  <c:v>219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5CBD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2A345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58FA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61D36"/>
        </a:solidFill>
        <a:ln>
          <a:noFill/>
        </a:ln>
        <a:effectLst/>
      </c:spPr>
    </c:plotArea>
    <c:plotVisOnly val="1"/>
    <c:dispBlanksAs val="span"/>
  </c:chart>
  <c:spPr>
    <a:solidFill>
      <a:srgbClr val="161D3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表紙。右のロケットは著作権フリーの自作ベクター。SpaceX公式写真はCC0のため差し替え可。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3つの結論。以降のスライドはこの3点を裏付ける構成。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Falcon 9の開発費$390Mは、NASAが同じものを従来型調達で作った場合の試算$3.6-4Bの約1/9。これが後の全ての原資になる。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売上ではStarlinkが55%。営業利益では実質100%。AI部門は成長率247%だが赤字。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外に売れば$74M取れるロケットを、自社Starlink用には$17.5Mで使える。この差が縦統合の威力。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Falcon 9事業は儲かっている。赤字はStarshipへの意図的な投資。2025年の支出は$3B（前年$1.84B）と加速中。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人類の稼働衛星の過半数がStarlink。2〜4日に1回のペースで打ち上げ続けている。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発表済みのDC計画は合計190GW・777件。日本全国の電力ピーク需要を超える規模。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Muskの理屈では宇宙太陽光は核融合の代替ではなく「完成済みの核融合炉から直接電気を引く方法」。核融合が成功してもTeslaの電池が売れるので彼は困らない。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感情で判断しないためにKill Criteriaを事前に決めておくことが目的。特に$100割れは機械的に実行する。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rt-launc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35240" y="0"/>
            <a:ext cx="45262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635240" y="0"/>
            <a:ext cx="1371600" cy="6858000"/>
          </a:xfrm>
          <a:prstGeom prst="rect">
            <a:avLst/>
          </a:prstGeom>
          <a:solidFill>
            <a:srgbClr val="0A0E1F">
              <a:alpha val="6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141732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EXPLORATION TECHNOLOGIES  |  NASDAQ: SPCX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182880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SpaceX 徹底解剖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640080" y="278892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打ち上げ経済圏・Starlink・そして電力戦争へ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640080" y="329184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2026年8月8日  |  Q2 2026決算・ロックアップ解除を踏まえて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4224528"/>
            <a:ext cx="2057400" cy="1051560"/>
          </a:xfrm>
          <a:prstGeom prst="roundRect">
            <a:avLst>
              <a:gd name="adj" fmla="val 7826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435254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B6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$7.81B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786384" y="4754880"/>
            <a:ext cx="1783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四半期売上 (+92%)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926080" y="4224528"/>
            <a:ext cx="2057400" cy="1051560"/>
          </a:xfrm>
          <a:prstGeom prst="roundRect">
            <a:avLst>
              <a:gd name="adj" fmla="val 7826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072384" y="435254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B6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12,400機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3072384" y="4754880"/>
            <a:ext cx="1783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Starlink累計打上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212080" y="4224528"/>
            <a:ext cx="2057400" cy="1051560"/>
          </a:xfrm>
          <a:prstGeom prst="roundRect">
            <a:avLst>
              <a:gd name="adj" fmla="val 7826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58384" y="435254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B6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$15-20M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5358384" y="4754880"/>
            <a:ext cx="1783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打上1回の社内原価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エグゼクティブサマリー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B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本資料の結論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0881360" cy="1280160"/>
          </a:xfrm>
          <a:prstGeom prst="roundRect">
            <a:avLst>
              <a:gd name="adj" fmla="val 6429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9264" y="1883664"/>
            <a:ext cx="420624" cy="420624"/>
          </a:xfrm>
          <a:prstGeom prst="ellipse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9264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600200" y="181051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Starlinkが全社を養う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00200" y="2249424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3事業のうち唯一の黒字。営業利益$1.66B。売上の55%を占め、利益は事実上100%。契約数1,200万件は前年比2倍。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200400"/>
            <a:ext cx="10881360" cy="1280160"/>
          </a:xfrm>
          <a:prstGeom prst="roundRect">
            <a:avLst>
              <a:gd name="adj" fmla="val 6429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3511296"/>
            <a:ext cx="420624" cy="420624"/>
          </a:xfrm>
          <a:prstGeom prst="ellipse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3511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00200" y="343814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6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打ち上げは「強いが赤字」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00200" y="3877056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Falcon 9の粗利率は約75%。部門赤字-$542Mの正体はStarship開発費で、四半期あたり約$1B。事業の弱さではない。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828032"/>
            <a:ext cx="10881360" cy="1280160"/>
          </a:xfrm>
          <a:prstGeom prst="roundRect">
            <a:avLst>
              <a:gd name="adj" fmla="val 6429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5138928"/>
            <a:ext cx="420624" cy="420624"/>
          </a:xfrm>
          <a:prstGeom prst="ellipse">
            <a:avLst/>
          </a:prstGeom>
          <a:solidFill>
            <a:srgbClr val="5FD3F3"/>
          </a:solidFill>
          <a:ln w="12700">
            <a:solidFill>
              <a:srgbClr val="5FD3F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51389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0E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00200" y="506577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FD3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次の主戦場は電力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600200" y="5504688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2030年のDC需要219GWに地上の送電網が追いつかない。SpaceXはFCCに軌道DC衛星100万機を申請済み。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201400" y="629107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24年の軌跡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B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倒産寸前から史上最大のIPOまで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5349240" cy="1078992"/>
          </a:xfrm>
          <a:prstGeom prst="roundRect">
            <a:avLst>
              <a:gd name="adj" fmla="val 7627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1907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847088" y="171907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創業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ロシアでICBM購入を断られ「自分で作る」と決断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72200" y="1572768"/>
            <a:ext cx="5349240" cy="1078992"/>
          </a:xfrm>
          <a:prstGeom prst="roundRect">
            <a:avLst>
              <a:gd name="adj" fmla="val 7627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71907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2008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79208" y="171907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崖っぷち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55080" y="2103120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Falcon 1が4回目で初成功。NASA CRS契約$1.6Bで倒産回避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807208"/>
            <a:ext cx="5349240" cy="1078992"/>
          </a:xfrm>
          <a:prstGeom prst="roundRect">
            <a:avLst>
              <a:gd name="adj" fmla="val 7627"/>
            </a:avLst>
          </a:prstGeom>
          <a:solidFill>
            <a:srgbClr val="1E2647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95351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847088" y="295351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Falcon 9初飛行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337560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開発費$390M。NASA試算($3.6-4B)の約1/9で完成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72200" y="2807208"/>
            <a:ext cx="5349240" cy="1078992"/>
          </a:xfrm>
          <a:prstGeom prst="roundRect">
            <a:avLst>
              <a:gd name="adj" fmla="val 7627"/>
            </a:avLst>
          </a:prstGeom>
          <a:solidFill>
            <a:srgbClr val="1E2647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295351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79208" y="295351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着陸成功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55080" y="3337560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第1段の地上帰還に世界初成功。再利用時代が始まる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041648"/>
            <a:ext cx="5349240" cy="1078992"/>
          </a:xfrm>
          <a:prstGeom prst="roundRect">
            <a:avLst>
              <a:gd name="adj" fmla="val 7627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418795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2019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847088" y="418795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Starlink開始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2960" y="4572000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衛星量産と打ち上げの垂直統合が回り出す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172200" y="4041648"/>
            <a:ext cx="5349240" cy="1078992"/>
          </a:xfrm>
          <a:prstGeom prst="roundRect">
            <a:avLst>
              <a:gd name="adj" fmla="val 7627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55080" y="418795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2023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379208" y="418795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Starship初飛行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355080" y="4572000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完全再利用への挑戦。累計開発費は$15B超へ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5276088"/>
            <a:ext cx="5349240" cy="1078992"/>
          </a:xfrm>
          <a:prstGeom prst="roundRect">
            <a:avLst>
              <a:gd name="adj" fmla="val 7627"/>
            </a:avLst>
          </a:prstGeom>
          <a:solidFill>
            <a:srgbClr val="1E2647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54223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2026.6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847088" y="542239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IPO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22960" y="5806440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NASDAQ上場。公開価格$135、時価総額$1.75兆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172200" y="5276088"/>
            <a:ext cx="5349240" cy="1078992"/>
          </a:xfrm>
          <a:prstGeom prst="roundRect">
            <a:avLst>
              <a:gd name="adj" fmla="val 7627"/>
            </a:avLst>
          </a:prstGeom>
          <a:solidFill>
            <a:srgbClr val="1E2647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55080" y="54223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2026.8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379208" y="542239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初決算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355080" y="5806440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売上$7.81B(+92%)。同時にロックアップ解除が開始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1201400" y="629107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 2026決算 — 3事業の実像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B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売上$7.81B (+92% YoY) / 純損失 -$541M</a:t>
            </a:r>
            <a:endParaRPr lang="en-US" sz="13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572768"/>
          <a:ext cx="539496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355080" y="1572768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営業損益で見ると構図が反転する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355080" y="2011680"/>
            <a:ext cx="5166360" cy="1024128"/>
          </a:xfrm>
          <a:prstGeom prst="roundRect">
            <a:avLst>
              <a:gd name="adj" fmla="val 8036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37960" y="21396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537960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成長率 +66%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686800" y="213969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4ECB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+$1.66B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686800" y="254203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唯一の黒字。契約1,200万件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355080" y="3182112"/>
            <a:ext cx="5166360" cy="1024128"/>
          </a:xfrm>
          <a:prstGeom prst="roundRect">
            <a:avLst>
              <a:gd name="adj" fmla="val 8036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37960" y="33101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537960" y="3685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成長率 +247%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686800" y="331012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464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-$1.26B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686800" y="371246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設備投資$15.8B/四半期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355080" y="4352544"/>
            <a:ext cx="5166360" cy="1024128"/>
          </a:xfrm>
          <a:prstGeom prst="roundRect">
            <a:avLst>
              <a:gd name="adj" fmla="val 8036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37960" y="44805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537960" y="48554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成長率 +29%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8686800" y="448056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464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-$0.54B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8686800" y="488289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Starship開発費が重い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640080" y="5742432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B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決算は大幅ビート。それでも株価が下げたのは、四半期capex $18.4B（うちAIに$15.8B）への警戒。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1201400" y="629107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打ち上げ経済学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B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同じ仕事を、他社の1/4〜1/10のコストでやる</a:t>
            </a:r>
            <a:endParaRPr lang="en-US" sz="13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27632"/>
          <a:ext cx="653796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627632"/>
            <a:ext cx="4023360" cy="1481328"/>
          </a:xfrm>
          <a:prstGeom prst="roundRect">
            <a:avLst>
              <a:gd name="adj" fmla="val 5556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99248" y="1755648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約75%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7699248" y="23774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Falcon 9の粗利率（外販$74M − 社内原価$17.5M）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498080" y="3383280"/>
            <a:ext cx="146304" cy="146304"/>
          </a:xfrm>
          <a:prstGeom prst="ellipse">
            <a:avLst/>
          </a:prstGeom>
          <a:solidFill>
            <a:srgbClr val="FFB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54112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再利用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754112" y="358444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1機のブースターを20回以上使い回す。整備費は約$1M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498080" y="4096512"/>
            <a:ext cx="146304" cy="146304"/>
          </a:xfrm>
          <a:prstGeom prst="ellipse">
            <a:avLst/>
          </a:prstGeom>
          <a:solidFill>
            <a:srgbClr val="FFB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54112" y="40233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使い捨ての壁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754112" y="429768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Ariane 6もVulcanも毎回ロケットを新造している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498080" y="4809744"/>
            <a:ext cx="146304" cy="146304"/>
          </a:xfrm>
          <a:prstGeom prst="ellipse">
            <a:avLst/>
          </a:prstGeom>
          <a:solidFill>
            <a:srgbClr val="FFB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54112" y="47365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売り手市場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754112" y="501091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2026年2月に$70M→$74Mへ値上げ。それでも席が足りない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40080" y="5779008"/>
            <a:ext cx="6537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社内原価は非公開。Musk発言と業界推定に基づく推定値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1201400" y="629107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なぜ「粗利75%」なのに部門は赤字なのか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B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Space部門 Q2 2026 の分解（推定込み）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606040" cy="1965960"/>
          </a:xfrm>
          <a:prstGeom prst="roundRect">
            <a:avLst>
              <a:gd name="adj" fmla="val 4186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外部売上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B6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+$962M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822960" y="2962656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商業・NASA・国防ミッション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46120" y="265176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38144" y="1691640"/>
            <a:ext cx="2606040" cy="1965960"/>
          </a:xfrm>
          <a:prstGeom prst="roundRect">
            <a:avLst>
              <a:gd name="adj" fmla="val 4186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21024" y="187452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打ち上げ粗利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621024" y="228600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ECB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+$450〜500M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3621024" y="2962656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ここは黒字。事業として健全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044184" y="265176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6208" y="1691640"/>
            <a:ext cx="2606040" cy="1965960"/>
          </a:xfrm>
          <a:prstGeom prst="roundRect">
            <a:avLst>
              <a:gd name="adj" fmla="val 4186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9088" y="187452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Starship開発費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19088" y="228600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464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−$1,000M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6419088" y="2962656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赤字の正体。四半期あたり約$1B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42248" y="265176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034272" y="1691640"/>
            <a:ext cx="2606040" cy="1965960"/>
          </a:xfrm>
          <a:prstGeom prst="roundRect">
            <a:avLst>
              <a:gd name="adj" fmla="val 4186"/>
            </a:avLst>
          </a:prstGeom>
          <a:solidFill>
            <a:srgbClr val="1E2647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17152" y="187452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部門営業損益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217152" y="228600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464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−$542M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9217152" y="2962656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「弱さ」ではなく未来への投資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069080"/>
            <a:ext cx="3529584" cy="1234440"/>
          </a:xfrm>
          <a:prstGeom prst="roundRect">
            <a:avLst>
              <a:gd name="adj" fmla="val 6667"/>
            </a:avLst>
          </a:prstGeom>
          <a:solidFill>
            <a:srgbClr val="1E2647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215384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6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38倍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22960" y="4599432"/>
            <a:ext cx="3163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Starship累計開発費$15B ÷ Falcon 9の$390M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61688" y="4069080"/>
            <a:ext cx="3529584" cy="1234440"/>
          </a:xfrm>
          <a:prstGeom prst="roundRect">
            <a:avLst>
              <a:gd name="adj" fmla="val 6667"/>
            </a:avLst>
          </a:prstGeom>
          <a:solidFill>
            <a:srgbClr val="1E2647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44568" y="4215384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6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2/3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4544568" y="4599432"/>
            <a:ext cx="3163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打ち上げの2/3は自社Starlink向け。社内取引なので売上に計上されない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83296" y="4069080"/>
            <a:ext cx="3529584" cy="1234440"/>
          </a:xfrm>
          <a:prstGeom prst="roundRect">
            <a:avLst>
              <a:gd name="adj" fmla="val 6667"/>
            </a:avLst>
          </a:prstGeom>
          <a:solidFill>
            <a:srgbClr val="1E2647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66176" y="4215384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6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$4B超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8266176" y="4599432"/>
            <a:ext cx="3163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HLS契約。Starship開発費の一部は政府が負担している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57607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B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監視すべきは1点 — Starshipの年間支出が減り始めたら開発完了が近い。増え続けるなら回収は後ろ倒し。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1201400" y="629107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Starlink — 利益エンジンの正体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B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打ち上げ1回が13ヶ月で元を取る構造</a:t>
            </a:r>
            <a:endParaRPr lang="en-US" sz="1350" dirty="0"/>
          </a:p>
        </p:txBody>
      </p:sp>
      <p:pic>
        <p:nvPicPr>
          <p:cNvPr id="4" name="Image 0" descr="art-constell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627632"/>
            <a:ext cx="5212080" cy="3886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627632"/>
            <a:ext cx="5349240" cy="804672"/>
          </a:xfrm>
          <a:prstGeom prst="roundRect">
            <a:avLst>
              <a:gd name="adj" fmla="val 10227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41248" y="1773936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FD3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12,400機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3246120" y="1773936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累計打ち上げ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2569464"/>
            <a:ext cx="5349240" cy="804672"/>
          </a:xfrm>
          <a:prstGeom prst="roundRect">
            <a:avLst>
              <a:gd name="adj" fmla="val 10227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1248" y="271576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FD3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10,800機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246120" y="2715768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現在軌道上で稼働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3511296"/>
            <a:ext cx="5349240" cy="804672"/>
          </a:xfrm>
          <a:prstGeom prst="roundRect">
            <a:avLst>
              <a:gd name="adj" fmla="val 10227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41248" y="365760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B6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1,200万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3246120" y="3657600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契約数（前年比2倍）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4498848"/>
            <a:ext cx="5349240" cy="1298448"/>
          </a:xfrm>
          <a:prstGeom prst="roundRect">
            <a:avLst>
              <a:gd name="adj" fmla="val 6338"/>
            </a:avLst>
          </a:prstGeom>
          <a:solidFill>
            <a:srgbClr val="1E2647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41248" y="462686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13ヶ月で回収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41248" y="5029200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1回$40M（ロケット＋衛星24機）→ 約2.6万契約分の容量 → 月$3.1Mの収入。衛星寿命5年のうち最初の1年で元が取れる。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640080" y="59436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競合は外部からロケットを買うため1回$70〜100M。回収に2〜3年かかり、衛星寿命とのマージンが薄い。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11201400" y="629107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次の主戦場は「電力」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B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AIデータセンター需要が地球側の限界に当たる</a:t>
            </a:r>
            <a:endParaRPr lang="en-US" sz="13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27632"/>
          <a:ext cx="502920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5902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2030年にはAIが全需要の70%を占める（McKinsey）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035040" y="162763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土地は足りる。電気が足りない。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6035040" y="2121408"/>
            <a:ext cx="5486400" cy="1207008"/>
          </a:xfrm>
          <a:prstGeom prst="roundRect">
            <a:avLst>
              <a:gd name="adj" fmla="val 6818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36208" y="22494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建物・キャンパスの土地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236208" y="252374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ECB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東京都 1個分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6236208" y="2907792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2030年の219GW分でも約1,300〜2,700km²。陸地のわずか0.002%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035040" y="3493008"/>
            <a:ext cx="5486400" cy="1207008"/>
          </a:xfrm>
          <a:prstGeom prst="roundRect">
            <a:avLst>
              <a:gd name="adj" fmla="val 6818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36208" y="36210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それを太陽光で賄う土地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236208" y="389534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464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長野県 1個分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6236208" y="4279392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約13,000km²のパネルが要る。しかも稼働率は20〜35%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035040" y="4864608"/>
            <a:ext cx="5486400" cy="1170432"/>
          </a:xfrm>
          <a:prstGeom prst="roundRect">
            <a:avLst>
              <a:gd name="adj" fmla="val 7031"/>
            </a:avLst>
          </a:prstGeom>
          <a:solidFill>
            <a:srgbClr val="1E2647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36208" y="4974336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本当の壁は送電網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36208" y="5285232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電力網への接続待ちは5年超。冷却水は1日数百万リットル。土地を買っても電気が引けない — これが軌道データセンター構想の出発点。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1201400" y="629107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なぜ核融合ではなく「宇宙」なのか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B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AI電力戦争の三つ巴と、Muskの一貫した論理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6675120" cy="1572768"/>
          </a:xfrm>
          <a:prstGeom prst="roundRect">
            <a:avLst>
              <a:gd name="adj" fmla="val 5233"/>
            </a:avLst>
          </a:prstGeom>
          <a:solidFill>
            <a:srgbClr val="1E2647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554480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353312" y="1810512"/>
            <a:ext cx="5760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空にすでに巨大な核融合炉が浮かんでいる。</a:t>
            </a:r>
            <a:endParaRPr lang="en-US" sz="15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太陽という名前で、無料で、メンテナンス不要だ。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353312" y="267004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B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Elon Musk（宇宙太陽光をめぐる持論より）</a:t>
            </a:r>
            <a:endParaRPr lang="en-US" sz="1100" dirty="0"/>
          </a:p>
        </p:txBody>
      </p:sp>
      <p:pic>
        <p:nvPicPr>
          <p:cNvPr id="8" name="Image 0" descr="art-orbital-d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89520" y="1600200"/>
            <a:ext cx="3931920" cy="157276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40080" y="3364992"/>
            <a:ext cx="3529584" cy="1755648"/>
          </a:xfrm>
          <a:prstGeom prst="roundRect">
            <a:avLst>
              <a:gd name="adj" fmla="val 4688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3511296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SpaceX / xAI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3803904"/>
            <a:ext cx="3163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軌道太陽光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822960" y="4279392"/>
            <a:ext cx="31638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FCCに衛星DC 100万機を申請。夜も雲もない軌道なら発電量は地上の約8倍。急所はStarshipのコストカーブ。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61688" y="3364992"/>
            <a:ext cx="3529584" cy="1755648"/>
          </a:xfrm>
          <a:prstGeom prst="roundRect">
            <a:avLst>
              <a:gd name="adj" fmla="val 4688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44568" y="3511296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44568" y="3803904"/>
            <a:ext cx="3163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FD3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両張り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4544568" y="4279392"/>
            <a:ext cx="31638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CFSと核融合200MWの購電契約を結びつつ、Suncatcher衛星でTPUを2027年に軌道投入。最もリスク分散が効く。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083296" y="3364992"/>
            <a:ext cx="3529584" cy="1755648"/>
          </a:xfrm>
          <a:prstGeom prst="roundRect">
            <a:avLst>
              <a:gd name="adj" fmla="val 4688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66176" y="3511296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/ MSFT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266176" y="3803904"/>
            <a:ext cx="3163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6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核融合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8266176" y="4279392"/>
            <a:ext cx="31638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Helionと2028年50MWの購電契約。ただし商用炉は世界にまだゼロで、必要規模には3桁足りない。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640080" y="565099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FFB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移行期の現実解はTesla Megapack — 2025年売上$12.8B(+27%)。AIデータセンターが送電網を待つ間の緩衝材として売れている。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640080" y="599846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引用は発言の主旨を日本語に要約したもの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11201400" y="629107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投資判断 — 3シナリオと降りる線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B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保有: SPCX 3株 @ $135 / 現在値 $108〜115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29584" cy="1874520"/>
          </a:xfrm>
          <a:prstGeom prst="roundRect">
            <a:avLst>
              <a:gd name="adj" fmla="val 4390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2880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ECB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Bull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468880" y="1883664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確率 25%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267712"/>
            <a:ext cx="3163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$145〜160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22960" y="2798064"/>
            <a:ext cx="31638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Starlink単独IPOの発表、またはStarship商業運用の開始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61688" y="1691640"/>
            <a:ext cx="3529584" cy="1874520"/>
          </a:xfrm>
          <a:prstGeom prst="roundRect">
            <a:avLst>
              <a:gd name="adj" fmla="val 4390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4568" y="182880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6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190488" y="1883664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確率 50%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2267712"/>
            <a:ext cx="3163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$105〜130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44568" y="2798064"/>
            <a:ext cx="31638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材料難。ロックアップ消化が続き現水準でのもみ合い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83296" y="1691640"/>
            <a:ext cx="3529584" cy="1874520"/>
          </a:xfrm>
          <a:prstGeom prst="roundRect">
            <a:avLst>
              <a:gd name="adj" fmla="val 4390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6176" y="182880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64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Bear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12096" y="1883664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確率 25%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66176" y="2267712"/>
            <a:ext cx="3163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$100割れ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266176" y="2798064"/>
            <a:ext cx="31638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政治リスクがNASA・国防契約に波及。Starshipの重大事故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402336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1E2647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415137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D3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監視すべき先行指標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1248" y="448056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Starshipの年間支出 — 減少なら開発完了が近い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41248" y="48463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Starlink契約の純増数 — 利益エンジンの健全性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41248" y="521208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政府契約の新規受注と見直しの動き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72200" y="402336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73368" y="415137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6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Criteria（降りる線）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373368" y="448056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$100を明確に下抜けたら損切りを実行する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73368" y="48463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Starshipの重大事故で開発が長期停止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73368" y="521208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5C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政府契約が実際に見直し・剥奪された時点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" y="605332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本資料は情報提供を目的としたもので、投資勧誘ではありません。数値には推定を含み、最終判断はご自身の責任で行ってください。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1201400" y="629107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58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SpaceX 徹底解剖</dc:title>
  <dc:subject>PptxGenJS Presentation</dc:subject>
  <dc:creator>Rui / Pyrenee</dc:creator>
  <cp:lastModifiedBy>Rui / Pyrenee</cp:lastModifiedBy>
  <cp:revision>1</cp:revision>
  <dcterms:created xsi:type="dcterms:W3CDTF">2026-08-08T01:03:57Z</dcterms:created>
  <dcterms:modified xsi:type="dcterms:W3CDTF">2026-08-08T01:03:57Z</dcterms:modified>
</cp:coreProperties>
</file>